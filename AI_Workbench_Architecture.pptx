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4FCC"/>
          </a:solidFill>
          <a:ln w="12700">
            <a:solidFill>
              <a:srgbClr val="3B4F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3B4FCC">
              <a:alpha val="20000"/>
            </a:srgbClr>
          </a:solidFill>
          <a:ln w="12700">
            <a:solidFill>
              <a:srgbClr val="6875E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457200"/>
            <a:ext cx="2194560" cy="2194560"/>
          </a:xfrm>
          <a:prstGeom prst="ellipse">
            <a:avLst/>
          </a:prstGeom>
          <a:solidFill>
            <a:srgbClr val="6875E8">
              <a:alpha val="15000"/>
            </a:srgbClr>
          </a:solidFill>
          <a:ln w="12700">
            <a:solidFill>
              <a:srgbClr val="6875E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60120"/>
            <a:ext cx="2194560" cy="292608"/>
          </a:xfrm>
          <a:prstGeom prst="rect">
            <a:avLst>
              <a:gd name="adj" fmla="val 12500"/>
            </a:avLst>
          </a:prstGeom>
          <a:solidFill>
            <a:srgbClr val="3B4FCC"/>
          </a:solidFill>
          <a:ln w="12700">
            <a:solidFill>
              <a:srgbClr val="3B4F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7D2FE"/>
                </a:solidFill>
              </a:rPr>
              <a:t>PLATFORM OVERVIEW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Workbench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platform for the reinsurance broking industry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3200400"/>
            <a:ext cx="1965960" cy="822960"/>
          </a:xfrm>
          <a:prstGeom prst="rect">
            <a:avLst/>
          </a:prstGeom>
          <a:solidFill>
            <a:srgbClr val="3B4FCC">
              <a:alpha val="40000"/>
            </a:srgbClr>
          </a:solidFill>
          <a:ln w="12700">
            <a:solidFill>
              <a:srgbClr val="6875E8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2004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AI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ReAct Agent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51760" y="3200400"/>
            <a:ext cx="1965960" cy="822960"/>
          </a:xfrm>
          <a:prstGeom prst="rect">
            <a:avLst/>
          </a:prstGeom>
          <a:solidFill>
            <a:srgbClr val="3B4FCC">
              <a:alpha val="40000"/>
            </a:srgbClr>
          </a:solidFill>
          <a:ln w="12700">
            <a:solidFill>
              <a:srgbClr val="6875E8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32004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UI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Generative UI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00600" y="3200400"/>
            <a:ext cx="1965960" cy="822960"/>
          </a:xfrm>
          <a:prstGeom prst="rect">
            <a:avLst/>
          </a:prstGeom>
          <a:solidFill>
            <a:srgbClr val="3B4FCC">
              <a:alpha val="40000"/>
            </a:srgbClr>
          </a:solidFill>
          <a:ln w="12700">
            <a:solidFill>
              <a:srgbClr val="6875E8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2004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DB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 DB Querying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49440" y="3200400"/>
            <a:ext cx="1965960" cy="822960"/>
          </a:xfrm>
          <a:prstGeom prst="rect">
            <a:avLst/>
          </a:prstGeom>
          <a:solidFill>
            <a:srgbClr val="3B4FCC">
              <a:alpha val="40000"/>
            </a:srgbClr>
          </a:solidFill>
          <a:ln w="12700">
            <a:solidFill>
              <a:srgbClr val="6875E8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32004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MEM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Long-Term Memory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Confidential — Management Briefing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4FCC"/>
          </a:solidFill>
          <a:ln w="12700">
            <a:solidFill>
              <a:srgbClr val="3B4F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D2FE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 Workbench?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purpose-built agentic AI platform that gives reinsurance broking professionals a conversational interface to query live databases, retrieve knowledge, process Excel files, and receive answers rendered as rich visual dashboards — all in one secure internal tool.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331720"/>
            <a:ext cx="2788920" cy="1508760"/>
          </a:xfrm>
          <a:prstGeom prst="rect">
            <a:avLst/>
          </a:prstGeom>
          <a:solidFill>
            <a:srgbClr val="EEF2FF"/>
          </a:solidFill>
          <a:ln w="12700">
            <a:solidFill>
              <a:srgbClr val="3B4FCC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331720"/>
            <a:ext cx="64008" cy="1508760"/>
          </a:xfrm>
          <a:prstGeom prst="rect">
            <a:avLst/>
          </a:prstGeom>
          <a:solidFill>
            <a:srgbClr val="3B4FCC"/>
          </a:solidFill>
          <a:ln w="12700">
            <a:solidFill>
              <a:srgbClr val="3B4F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423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4FCC"/>
                </a:solidFill>
              </a:rPr>
              <a:t>Placement Broker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2743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Cedant relationships, capacity sourcing, slip drafting, renewal management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2331720"/>
            <a:ext cx="2788920" cy="150876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2331720"/>
            <a:ext cx="64008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92424" y="2423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Underwriter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92424" y="2743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Risk analysis, submission review, technical pricing, exposure assessment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81344" y="2331720"/>
            <a:ext cx="2788920" cy="150876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2331720"/>
            <a:ext cx="64008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2423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Claims Analyst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45936" y="2743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Loss tracking, reserve management, recovery monitoring, bordereaux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023360"/>
            <a:ext cx="2011680" cy="86868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40416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74320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2FE"/>
                </a:solidFill>
              </a:rPr>
              <a:t>Specialist Skills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50592" y="4023360"/>
            <a:ext cx="2011680" cy="86868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50592" y="40416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10+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450592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2FE"/>
                </a:solidFill>
              </a:rPr>
              <a:t>UI Components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26864" y="4023360"/>
            <a:ext cx="2011680" cy="86868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26864" y="40416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626864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2FE"/>
                </a:solidFill>
              </a:rPr>
              <a:t>Tool Categories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03136" y="4023360"/>
            <a:ext cx="2011680" cy="86868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03136" y="40416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4+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803136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2FE"/>
                </a:solidFill>
              </a:rPr>
              <a:t>LLM Providers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4FCC"/>
          </a:solidFill>
          <a:ln w="12700">
            <a:solidFill>
              <a:srgbClr val="3B4F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D2FE"/>
                </a:solidFill>
              </a:rPr>
              <a:t>PLATFORM 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896112"/>
            <a:ext cx="8732520" cy="914400"/>
          </a:xfrm>
          <a:prstGeom prst="rect">
            <a:avLst/>
          </a:prstGeom>
          <a:solidFill>
            <a:srgbClr val="EEF2FF"/>
          </a:solidFill>
          <a:ln w="12700">
            <a:solidFill>
              <a:srgbClr val="3B4FCC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896112"/>
            <a:ext cx="64008" cy="914400"/>
          </a:xfrm>
          <a:prstGeom prst="rect">
            <a:avLst/>
          </a:prstGeom>
          <a:solidFill>
            <a:srgbClr val="3B4FCC"/>
          </a:solidFill>
          <a:ln w="12700">
            <a:solidFill>
              <a:srgbClr val="3B4F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326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4FCC"/>
                </a:solidFill>
              </a:rPr>
              <a:t>① FRONTEND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1978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React 19 · Vite · Tailwind · Zustand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88920" y="1060704"/>
            <a:ext cx="14813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B4FCC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52928" y="1060704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Chat + streaming UI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43400" y="1060704"/>
            <a:ext cx="14813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B4FCC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7408" y="1060704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Generative component registry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97880" y="1060704"/>
            <a:ext cx="14813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B4FCC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61888" y="1060704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Persona selector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52360" y="1060704"/>
            <a:ext cx="14813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B4FCC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16368" y="1060704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Admin: RAG · Skills · Memory · Runs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1168" y="1929384"/>
            <a:ext cx="8732520" cy="91440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1929384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1965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② AGENT LAYER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22311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NestJS · LangChain · LangGraph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88920" y="2093976"/>
            <a:ext cx="14813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52928" y="2093976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ReAct agent (Reason → Act loop)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43400" y="2093976"/>
            <a:ext cx="14813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07408" y="2093976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Skills system (MongoDB-backed)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97880" y="2093976"/>
            <a:ext cx="14813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61888" y="2093976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Long-term memory engine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52360" y="2093976"/>
            <a:ext cx="14813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16368" y="2093976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Result auto-classifier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1168" y="2962656"/>
            <a:ext cx="8732520" cy="9144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01168" y="2962656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2999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③ TOOL LAYER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4048" y="32644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Zod-typed DynamicStructuredTools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88920" y="3127248"/>
            <a:ext cx="19994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52928" y="3127248"/>
            <a:ext cx="1908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UI render tools (10+)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61560" y="3127248"/>
            <a:ext cx="19994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25568" y="3127248"/>
            <a:ext cx="1908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Mongo NL query tools (multi-DB)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34200" y="3127248"/>
            <a:ext cx="19994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98208" y="3127248"/>
            <a:ext cx="1908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RAG · Excel · MCP tools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01168" y="3995928"/>
            <a:ext cx="873252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01168" y="3995928"/>
            <a:ext cx="64008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40325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④ DATA + LLM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84048" y="42976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MongoDB Atlas · OpenAI / Claude / Azure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88920" y="4160520"/>
            <a:ext cx="19994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>
                <a:alpha val="3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52928" y="4160520"/>
            <a:ext cx="1908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Vector Search (RAG)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61560" y="4160520"/>
            <a:ext cx="19994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>
                <a:alpha val="3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25568" y="4160520"/>
            <a:ext cx="1908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CRM · ERP · Analytics DBs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934200" y="4160520"/>
            <a:ext cx="19994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>
                <a:alpha val="3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98208" y="4160520"/>
            <a:ext cx="1908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Pluggable LLM provider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4FCC"/>
          </a:solidFill>
          <a:ln w="12700">
            <a:solidFill>
              <a:srgbClr val="3B4F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D2FE"/>
                </a:solidFill>
              </a:rPr>
              <a:t>GENERATIVE UI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72A"/>
                </a:solidFill>
              </a:rPr>
              <a:t>The AI doesn't just write text — it renders live interactive components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1965960" cy="658368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258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asks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 question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0280" y="1325880"/>
            <a:ext cx="246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87168" y="1325880"/>
            <a:ext cx="1965960" cy="658368"/>
          </a:xfrm>
          <a:prstGeom prst="rect">
            <a:avLst/>
          </a:prstGeom>
          <a:solidFill>
            <a:srgbClr val="3B4FCC"/>
          </a:solidFill>
          <a:ln w="12700">
            <a:solidFill>
              <a:srgbClr val="3B4F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87168" y="13258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 calls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render tool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53128" y="1325880"/>
            <a:ext cx="246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00016" y="1325880"/>
            <a:ext cx="19659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0016" y="13258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SSE event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streamed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65976" y="1325880"/>
            <a:ext cx="246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12864" y="1325880"/>
            <a:ext cx="196596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12864" y="13258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Component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renders live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148840"/>
            <a:ext cx="16276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4FCC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148840"/>
            <a:ext cx="1627632" cy="228600"/>
          </a:xfrm>
          <a:prstGeom prst="rect">
            <a:avLst/>
          </a:prstGeom>
          <a:solidFill>
            <a:srgbClr val="3B4FCC"/>
          </a:solidFill>
          <a:ln w="12700">
            <a:solidFill>
              <a:srgbClr val="3B4F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14884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Stats Dashboard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4320" y="2395728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KPI cards with deltas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11680" y="2148840"/>
            <a:ext cx="16276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011680" y="2148840"/>
            <a:ext cx="1627632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214884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Table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11680" y="2395728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Sortable, paginated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49040" y="2148840"/>
            <a:ext cx="16276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749040" y="2148840"/>
            <a:ext cx="1627632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214884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Bar / Line Chart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49040" y="2395728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Multi-series charts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0" y="2148840"/>
            <a:ext cx="16276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0" y="2148840"/>
            <a:ext cx="1627632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214884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Entity Card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0" y="2395728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Single-record detail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23760" y="2148840"/>
            <a:ext cx="16276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2777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23760" y="2148840"/>
            <a:ext cx="1627632" cy="22860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214884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Comparison Table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223760" y="2395728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Side-by-side view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3108960"/>
            <a:ext cx="16276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3108960"/>
            <a:ext cx="1627632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10896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Timeline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4320" y="3355848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Event sequences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011680" y="3108960"/>
            <a:ext cx="16276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4FCC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011680" y="3108960"/>
            <a:ext cx="1627632" cy="228600"/>
          </a:xfrm>
          <a:prstGeom prst="rect">
            <a:avLst/>
          </a:prstGeom>
          <a:solidFill>
            <a:srgbClr val="3B4FCC"/>
          </a:solidFill>
          <a:ln w="12700">
            <a:solidFill>
              <a:srgbClr val="3B4F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11680" y="310896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Query Result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011680" y="3355848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DB result with metadata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749040" y="3108960"/>
            <a:ext cx="16276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749040" y="3108960"/>
            <a:ext cx="1627632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49040" y="310896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Alert Panel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749040" y="3355848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Info / warning / error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86400" y="3108960"/>
            <a:ext cx="16276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86400" y="3108960"/>
            <a:ext cx="1627632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0" y="310896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Key-Value List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486400" y="3355848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Structured attributes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223760" y="3108960"/>
            <a:ext cx="16276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223760" y="3108960"/>
            <a:ext cx="1627632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23760" y="310896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PDF Export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223760" y="3355848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Print-ready from any card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4FCC"/>
          </a:solidFill>
          <a:ln w="12700">
            <a:solidFill>
              <a:srgbClr val="3B4F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D2FE"/>
                </a:solidFill>
              </a:rPr>
              <a:t>AGENT &amp; SKILLS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ReAct Agent Loop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3840480" cy="59436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71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 Build Prompt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184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2FE"/>
                </a:solidFill>
              </a:rPr>
              <a:t>Skill + Memory + History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39112"/>
            <a:ext cx="3840480" cy="594360"/>
          </a:xfrm>
          <a:prstGeom prst="rect">
            <a:avLst/>
          </a:prstGeom>
          <a:solidFill>
            <a:srgbClr val="3B4FCC"/>
          </a:solidFill>
          <a:ln w="12700">
            <a:solidFill>
              <a:srgbClr val="3B4F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0848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 Reason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3317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2FE"/>
                </a:solidFill>
              </a:rPr>
              <a:t>LLM decides next action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263347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752344"/>
            <a:ext cx="384048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7980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 Act (Tool)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0449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2FE"/>
                </a:solidFill>
              </a:rPr>
              <a:t>DB · RAG · Excel · UI render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3346704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465576"/>
            <a:ext cx="384048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5112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 Observe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7581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2FE"/>
                </a:solidFill>
              </a:rPr>
              <a:t>Tool result fed back to LLM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059936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178808"/>
            <a:ext cx="384048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4224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5. Respond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4714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2FE"/>
                </a:solidFill>
              </a:rPr>
              <a:t>Final answer streamed to UI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3440" y="914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Built-in Skills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325880"/>
            <a:ext cx="4251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B4FCC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325880"/>
            <a:ext cx="64008" cy="530352"/>
          </a:xfrm>
          <a:prstGeom prst="rect">
            <a:avLst/>
          </a:prstGeom>
          <a:solidFill>
            <a:srgbClr val="3B4FCC"/>
          </a:solidFill>
          <a:ln w="12700">
            <a:solidFill>
              <a:srgbClr val="3B4F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13624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General Assistant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28032" y="16002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Broad knowledge, RAG, all tools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1947672"/>
            <a:ext cx="4251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947672"/>
            <a:ext cx="64008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19842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Placement Broker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28032" y="22219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Cedant data, slips, renewals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569464"/>
            <a:ext cx="4251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569464"/>
            <a:ext cx="64008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26060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Underwriter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28032" y="284378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Risk analysis, pricing, exposure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3191256"/>
            <a:ext cx="4251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2777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191256"/>
            <a:ext cx="64008" cy="53035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32278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Claims Analyst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28032" y="34655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Loss runs, reserves, recoveries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3813048"/>
            <a:ext cx="4251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3813048"/>
            <a:ext cx="64008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38496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Excel Processor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28032" y="4087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Bordereaux cleaning + validation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4434840"/>
            <a:ext cx="4251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63440" y="4434840"/>
            <a:ext cx="64008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28032" y="44714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HTML Builder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28032" y="47091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Self-contained dashboards &amp; charts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4FCC"/>
          </a:solidFill>
          <a:ln w="12700">
            <a:solidFill>
              <a:srgbClr val="3B4F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D2FE"/>
                </a:solidFill>
              </a:rPr>
              <a:t>DATA &amp; INTELLIGENCE LAYER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96112"/>
            <a:ext cx="4206240" cy="193852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96112"/>
            <a:ext cx="420624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961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 Knowledge Base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426464"/>
            <a:ext cx="109728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3350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Upload PDFs, DOCX, URLs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728216"/>
            <a:ext cx="109728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6367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MongoDB Atlas Vector Search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029968"/>
            <a:ext cx="109728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1938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1536-dim cosine similarity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331720"/>
            <a:ext cx="109728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240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Per-persona namespace isolation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633472"/>
            <a:ext cx="109728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542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Relevance threshold filtering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896112"/>
            <a:ext cx="4206240" cy="193852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896112"/>
            <a:ext cx="4206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8961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 Multi-DB Querying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1426464"/>
            <a:ext cx="109728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13350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NL → MongoDB aggregation pipeline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1728216"/>
            <a:ext cx="109728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16367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CRM, ERP, Analytics clusters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2029968"/>
            <a:ext cx="109728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1938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Schema auto-discovery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331720"/>
            <a:ext cx="109728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2240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Few-shot pipeline generation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2633472"/>
            <a:ext cx="109728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0912" y="2542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Validated, read-only by default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2980944"/>
            <a:ext cx="4206240" cy="193852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2980944"/>
            <a:ext cx="42062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298094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Long-Term Memory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1480" y="3511296"/>
            <a:ext cx="109728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34198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Auto-extract facts after each turn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1480" y="3813048"/>
            <a:ext cx="109728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37216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Named entity tracking (person, company…)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4114800"/>
            <a:ext cx="109728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" y="4023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Confidence-scored storage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" y="4416552"/>
            <a:ext cx="109728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" y="4325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Injected silently into every prompt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1480" y="4718304"/>
            <a:ext cx="109728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" y="46268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Per-user, fully persistent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09160" y="2980944"/>
            <a:ext cx="4206240" cy="193852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2980944"/>
            <a:ext cx="420624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18888" y="298094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Observability &amp; Runs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846320" y="3511296"/>
            <a:ext cx="109728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10912" y="34198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Every run logged to MongoDB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46320" y="3813048"/>
            <a:ext cx="109728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10912" y="37216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Token count + USD cost tracking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46320" y="4114800"/>
            <a:ext cx="109728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10912" y="4023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Full tool call audit trail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46320" y="4416552"/>
            <a:ext cx="109728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10912" y="4325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LangSmith tracing integration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46320" y="4718304"/>
            <a:ext cx="109728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10912" y="46268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Run history &amp; analytics UI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4FCC"/>
          </a:solidFill>
          <a:ln w="12700">
            <a:solidFill>
              <a:srgbClr val="3B4F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D2FE"/>
                </a:solidFill>
              </a:rPr>
              <a:t>EXCEL &amp; BORDEREAUX PROCESSOR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</a:rPr>
              <a:t>AI-powered data standardisation pipeline for reinsurance files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1325880" cy="137160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4173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18105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Inspect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208483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2FE"/>
                </a:solidFill>
              </a:rPr>
              <a:t>Auto-detects format,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7D2FE"/>
                </a:solidFill>
              </a:rPr>
              <a:t>sheets, column types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54480" y="1371600"/>
            <a:ext cx="137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91640" y="1371600"/>
            <a:ext cx="1325880" cy="1371600"/>
          </a:xfrm>
          <a:prstGeom prst="rect">
            <a:avLst/>
          </a:prstGeom>
          <a:solidFill>
            <a:srgbClr val="3B4FCC"/>
          </a:solidFill>
          <a:ln w="12700">
            <a:solidFill>
              <a:srgbClr val="3B4F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91640" y="14173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91640" y="18105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Classify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08483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2FE"/>
                </a:solidFill>
              </a:rPr>
              <a:t>Premium or claims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7D2FE"/>
                </a:solidFill>
              </a:rPr>
              <a:t>bordereaux?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17520" y="1371600"/>
            <a:ext cx="137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154680" y="1371600"/>
            <a:ext cx="132588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54680" y="14173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154680" y="18105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Clean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54680" y="208483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2FE"/>
                </a:solidFill>
              </a:rPr>
              <a:t>Trim whitespace,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7D2FE"/>
                </a:solidFill>
              </a:rPr>
              <a:t>fix numeric strings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80560" y="1371600"/>
            <a:ext cx="137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17720" y="1371600"/>
            <a:ext cx="1325880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17720" y="14173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617720" y="18105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Map Schema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208483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2FE"/>
                </a:solidFill>
              </a:rPr>
              <a:t>Alias columns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7D2FE"/>
                </a:solidFill>
              </a:rPr>
              <a:t>standard names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0" y="1371600"/>
            <a:ext cx="137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80760" y="1371600"/>
            <a:ext cx="1325880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80760" y="14173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080760" y="18105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80760" y="208483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2FE"/>
                </a:solidFill>
              </a:rPr>
              <a:t>Business rules,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7D2FE"/>
                </a:solidFill>
              </a:rPr>
              <a:t>date logic, nulls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06640" y="1371600"/>
            <a:ext cx="137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543800" y="1371600"/>
            <a:ext cx="1325880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543800" y="14173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543800" y="18105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543800" y="208483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2FE"/>
                </a:solidFill>
              </a:rPr>
              <a:t>Clean file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7D2FE"/>
                </a:solidFill>
              </a:rPr>
              <a:t>Anomalies sheet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29260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Reinsurance-specific validation rules enforced automatically: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3291840"/>
            <a:ext cx="2788920" cy="32918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374136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32918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No negative gross premiums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27832" y="3291840"/>
            <a:ext cx="2788920" cy="32918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>
                <a:alpha val="3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19272" y="3374136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47872" y="32918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Notification date ≥ loss date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81344" y="3291840"/>
            <a:ext cx="2788920" cy="32918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>
                <a:alpha val="3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72784" y="3374136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01384" y="32918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Currency on every row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3675888"/>
            <a:ext cx="2788920" cy="32918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3758184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36758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Policy reference required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27832" y="3675888"/>
            <a:ext cx="2788920" cy="32918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>
                <a:alpha val="3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19272" y="3758184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47872" y="36758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Effective dates &lt; 1 yr future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81344" y="3675888"/>
            <a:ext cx="2788920" cy="32918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>
                <a:alpha val="3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72784" y="3758184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01384" y="36758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Monetary values numeric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4FCC"/>
          </a:solidFill>
          <a:ln w="12700">
            <a:solidFill>
              <a:srgbClr val="3B4F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D2FE"/>
                </a:solidFill>
              </a:rPr>
              <a:t>TECH STACK &amp; DEPLOYMENT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96112"/>
            <a:ext cx="2788920" cy="347472"/>
          </a:xfrm>
          <a:prstGeom prst="rect">
            <a:avLst/>
          </a:prstGeom>
          <a:solidFill>
            <a:srgbClr val="3B4FCC"/>
          </a:solidFill>
          <a:ln w="12700">
            <a:solidFill>
              <a:srgbClr val="3B4F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9611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4FCC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984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Framework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129844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React 19 + Vite + TypeScript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810512"/>
            <a:ext cx="27889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3B4FCC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105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Styling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181051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Tailwind CSS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322576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4FCC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225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State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17320" y="232257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Zustand + React Query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27889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3B4FCC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346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Streaming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17320" y="28346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EventSource (SSE)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346704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4FCC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4670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Charts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17320" y="334670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Custom SVG components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27832" y="896112"/>
            <a:ext cx="27889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27832" y="89611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27832" y="1298448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9272" y="12984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Framework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70832" y="129844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NestJS + TypeScript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27832" y="1810512"/>
            <a:ext cx="27889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9272" y="18105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Agent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70832" y="181051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LangChain + LangGraph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27832" y="2322576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9272" y="23225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Runtime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70832" y="232257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Node.js LTS 20/22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27832" y="2834640"/>
            <a:ext cx="27889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9272" y="28346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API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70832" y="28346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REST + SSE streaming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27832" y="3346704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9272" y="334670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Validation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370832" y="334670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Zod schemas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81344" y="896112"/>
            <a:ext cx="27889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81344" y="89611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&amp; AI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81344" y="1298448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72784" y="12984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Database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24344" y="129844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MongoDB Atlas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81344" y="1810512"/>
            <a:ext cx="27889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72784" y="18105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Vector Search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24344" y="181051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Atlas VS (1536-dim)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81344" y="2322576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72784" y="23225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Embeddings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324344" y="232257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text-embedding-3-small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181344" y="2834640"/>
            <a:ext cx="27889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72784" y="28346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LLM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24344" y="28346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Claude / GPT-4o / Azure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81344" y="3346704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72784" y="334670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Tracing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324344" y="334670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LangSmith (optional)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74320" y="39776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Supported LLM Providers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74320" y="4297680"/>
            <a:ext cx="1627632" cy="530352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274320" y="4297680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Anthropic Claude 3.5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011680" y="4297680"/>
            <a:ext cx="1627632" cy="530352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2011680" y="4297680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OpenAI GPT-4o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749040" y="4297680"/>
            <a:ext cx="1627632" cy="530352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3749040" y="4297680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Azure OpenAI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486400" y="4297680"/>
            <a:ext cx="1627632" cy="530352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5486400" y="4297680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LiteLLM Proxy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223760" y="4297680"/>
            <a:ext cx="1627632" cy="530352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7223760" y="4297680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Ollama (local)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4FCC"/>
          </a:solidFill>
          <a:ln w="12700">
            <a:solidFill>
              <a:srgbClr val="3B4F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3B4FCC">
              <a:alpha val="18000"/>
            </a:srgbClr>
          </a:solidFill>
          <a:ln w="12700">
            <a:solidFill>
              <a:srgbClr val="6875E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657600"/>
            <a:ext cx="2011680" cy="2011680"/>
          </a:xfrm>
          <a:prstGeom prst="ellipse">
            <a:avLst/>
          </a:prstGeom>
          <a:solidFill>
            <a:srgbClr val="6875E8">
              <a:alpha val="12000"/>
            </a:srgbClr>
          </a:solidFill>
          <a:ln w="12700">
            <a:solidFill>
              <a:srgbClr val="6875E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Summary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</a:rPr>
              <a:t>A production-ready agentic AI platform built for reinsurance — extensible, observable, and LLM-agnostic.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56816"/>
            <a:ext cx="201168" cy="128016"/>
          </a:xfrm>
          <a:prstGeom prst="rect">
            <a:avLst/>
          </a:prstGeom>
          <a:solidFill>
            <a:srgbClr val="6875E8"/>
          </a:solidFill>
          <a:ln w="12700">
            <a:solidFill>
              <a:srgbClr val="6875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82880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Conversational interface over live databases — no SQL or code required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432304"/>
            <a:ext cx="201168" cy="128016"/>
          </a:xfrm>
          <a:prstGeom prst="rect">
            <a:avLst/>
          </a:prstGeom>
          <a:solidFill>
            <a:srgbClr val="6875E8"/>
          </a:solidFill>
          <a:ln w="12700">
            <a:solidFill>
              <a:srgbClr val="6875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304288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Generative UI renders KPI dashboards, tables, charts, and entity cards inline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907792"/>
            <a:ext cx="201168" cy="128016"/>
          </a:xfrm>
          <a:prstGeom prst="rect">
            <a:avLst/>
          </a:prstGeom>
          <a:solidFill>
            <a:srgbClr val="6875E8"/>
          </a:solidFill>
          <a:ln w="12700">
            <a:solidFill>
              <a:srgbClr val="687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779776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Persona-aware skills with domain knowledge baked into every response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383280"/>
            <a:ext cx="201168" cy="128016"/>
          </a:xfrm>
          <a:prstGeom prst="rect">
            <a:avLst/>
          </a:prstGeom>
          <a:solidFill>
            <a:srgbClr val="6875E8"/>
          </a:solidFill>
          <a:ln w="12700">
            <a:solidFill>
              <a:srgbClr val="6875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255264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Long-term memory ensures the AI knows your context across sessions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858768"/>
            <a:ext cx="201168" cy="128016"/>
          </a:xfrm>
          <a:prstGeom prst="rect">
            <a:avLst/>
          </a:prstGeom>
          <a:solidFill>
            <a:srgbClr val="6875E8"/>
          </a:solidFill>
          <a:ln w="12700">
            <a:solidFill>
              <a:srgbClr val="6875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730752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Full observability: every run logged with token counts, costs, and tool traces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334256"/>
            <a:ext cx="201168" cy="128016"/>
          </a:xfrm>
          <a:prstGeom prst="rect">
            <a:avLst/>
          </a:prstGeom>
          <a:solidFill>
            <a:srgbClr val="6875E8"/>
          </a:solidFill>
          <a:ln w="12700">
            <a:solidFill>
              <a:srgbClr val="6875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20624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LLM-agnostic: swap between Claude, GPT-4o, Azure, or on-premise Ollama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Confidential — Management Briefing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Workbench — Platform Architecture</dc:title>
  <dc:subject>PptxGenJS Presentation</dc:subject>
  <dc:creator>AI Workbench Team</dc:creator>
  <cp:lastModifiedBy>AI Workbench Team</cp:lastModifiedBy>
  <cp:revision>1</cp:revision>
  <dcterms:created xsi:type="dcterms:W3CDTF">2026-05-24T14:41:34Z</dcterms:created>
  <dcterms:modified xsi:type="dcterms:W3CDTF">2026-05-24T14:41:34Z</dcterms:modified>
</cp:coreProperties>
</file>